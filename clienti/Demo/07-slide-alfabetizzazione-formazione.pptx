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Benvenuti. Obiettivo dell’incontro: capire come usare l’intelligenza artificiale sul lavoro in modo corretto, efficace e conforme alla normativa (AI Act, Legge 132/2025, D.Lgs 179/2026), senza tecnicismi. Durata indicativa: 2 ore. Prima di iniziare, chiedi in sala: chi usa già un assistente IA durante il lavoro, anche solo per scrivere una email? Di solito la maggioranza alza la mano: è il punto da cui partire, non stiamo partendo da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Scaletta indicativa, adattabile alla durata della sessione (tipicamente 2 ore: circa 20 minuti a blocco, lasciando spazio alle domande dopo ogni sezione). Se il tempo è poco, i blocchi 2 e 3 (normativa e regole pratiche) sono quelli da non tagliare: sono l’adempimento richiesto dalla legge.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si passa dal dato normativo a quello organizzativo: l’IA non entra in azienda per decisione della direzione, entra dal basso. Esempio concreto: un collaboratore che usa ChatGPT sul telefono personale per rispondere più in fretta a un cliente, senza che nessuno l’abbia approvato o ne sia a conoscenza. La figura con i punti sparsi rappresenta proprio questo: uso disordinato, non collegato, senza regia.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quattro richieste della normativa italiana (Legge 132/2025 e D.Lgs 179/2026, art. 42) sono anche le quattro cose di cui l’azienda ha bisogno indipendentemente dalla legge, per governare l’uso dell’IA invece di subirlo. Messaggio chiave da ripetere: non sono quattro adempimenti separati, sono un unico percorso. Il censimento che stiamo per fare alimenta la policy, la policy ha bisogno del referente, e tutti e tre hanno bisogno di questa formazione per funzionare davvero.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Queste quattro regole sono il cuore della policy aziendale: vale la pena farle leggere ad alta voce, una alla volta, e per ciascuna chiedere un esempio pratico al gruppo (es. "qualcuno ha già usato ChatGPT con l'account personale per lavoro? Da oggi va fatto con l'account aziendale"). La seconda regola è quella su cui insistere di più: è la causa più comune di incidenti.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 che funziona sempre bene: "immaginate di incollare un contratto riservato in ChatGPT per farvelo riassumere più in fretta, usando il vostro account personale". È esattamente il tipo di gesto piccolo, fatto in buona fede, che questa regola vuole evitare. Chiedere in sala se a qualcuno è già capitato aiuta a far emergere i casi reali da censire.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la pena portare un esempio concreto e neutro, senza nominare prodotti specifici: capita spesso che uno strumento di IA generi un riferimento normativo, una fonte o una citazione che sembra plausibile ma non esiste davvero. Non è un difetto raro, è un comportamento normale di questi strumenti. Per questo "controllare" non è un optional: è l'unico modo per usarli bene. Il rombo sulla linea rappresenta proprio questo controllo di passaggio prima che un output esca verso l'esterno.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41, D.Lgs 179/2026: le decisioni finali su costituzione, modifica o risoluzione del rapporto di lavoro — inclusi provvedimenti disciplinari e valutazioni delle prestazioni — non possono basarsi unicamente su un trattamento automatizzato. Il lavoratore ha diritto, su richiesta, a una motivazione intelligibile della decisione. Il consenso del lavoratore non è un’eccezione a questa regola. Questa slide riguarda da vicino chi si occupa di persone: se in sala c'è qualcuno delle risorse umane, è il momento di rivolgersi direttamente a lui o lei. L'IA può aiutare a preparare una valutazione, ma chi firma deve averla letta, pensata e decisa.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Elenco semplificato dell’art. 5 del regolamento (UE) 2024/1689 (AI Act). Da rassicurare subito il gruppo: la quasi totalità di quello che fate ogni giorno — scrivere, riassumere, cercare, analizzare dati — non rientra in nessuna di queste categorie. Queste sono le eccezioni gravi, non la normalità. Se però un uso vi sembra anche solo vagamente simile a uno di questi quattro casi, è da segnalare subito al referente, prima di procedere.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di sintesi: conviene lasciarla proiettata qualche secondo in più e chiedere al gruppo di riformularla con parole proprie, una regola a testa. Le quattro cose da fare corrispondono punto per punto alla policy aziendale che verrà consegnata: non è altro che la stessa policy, detta in modo semplice.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diamo le coordinate pratiche: nome, ruolo e come contattare il referente (email, chat interna, o semplicemente passare in ufficio). Vale la pena anche dire quando è ragionevole aspettarsi una risposta, per non creare l'impressione di un canale che poi nessuno controlla. Se l'azienda non ha ancora nominato nessuno, qui è il momento di annunciarlo.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ricordando dove trovare le cose: la policy aziendale (dove sono elencati gli strumenti autorizzati), il nome del referente interno e l'attestato di partecipazione che verrà consegnato a ciascuno. Lasciare qualche minuto per domande libere, anche informali: spesso emergono i casi d'uso più interessanti proprio a fine sessione. La figura in alto a destra è la stessa della copertina: da uso disordinato (prima slide) a rete collegata e governata (qui).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 base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282700"/>
            <a:ext cx="1016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Alfabetizzazione e uso responsabile dell’intelligenza artificiale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3695700"/>
            <a:ext cx="1016000" cy="635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40132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dice la legge, cosa possiamo fare e cosa no, a chi rivolgersi in caso di dubbio.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8547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· 10/12/2026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34200" y="58547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 di [Nome formatore]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11000" y="1397000"/>
            <a:ext cx="64" cy="3683000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66550" y="1606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Shape 8"/>
          <p:cNvSpPr/>
          <p:nvPr/>
        </p:nvSpPr>
        <p:spPr>
          <a:xfrm>
            <a:off x="11766550" y="31940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1" name="Shape 9"/>
          <p:cNvSpPr/>
          <p:nvPr/>
        </p:nvSpPr>
        <p:spPr>
          <a:xfrm>
            <a:off x="11766550" y="4781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cosa parliamo oggi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4350"/>
            <a:ext cx="762000" cy="635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52650"/>
            <a:ext cx="5187950" cy="10795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4066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L’IA è già qui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7241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la usiamo oggi, spesso senza accorgercene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1250" y="2152650"/>
            <a:ext cx="5187950" cy="10795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5250" y="24066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Cosa chiede la legge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5250" y="27241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breve, senza tecnicismi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422650"/>
            <a:ext cx="5187950" cy="10795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6800" y="36766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 regole pratiche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66800" y="39941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fare e cosa evitare nel lavoro quotidiano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1250" y="3422650"/>
            <a:ext cx="5187950" cy="10795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5250" y="36766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 chi rivolgersi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5250" y="3994150"/>
            <a:ext cx="4679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referente interno e i prossimi passi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11000" y="1397000"/>
            <a:ext cx="64" cy="3683000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66550" y="1606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66550" y="31940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66550" y="4781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7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9050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partenza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374900"/>
            <a:ext cx="952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 maggior parte delle aziende l’intelligenza artificiale è già in uso.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7719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dal basso, una persona alla volta, spesso senza una scelta consapevole. Il problema non è vietarla: è portarla alla luce e darle una direzione.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flipV="1">
            <a:off x="10210800" y="812800"/>
            <a:ext cx="635000" cy="127000"/>
          </a:xfrm>
          <a:prstGeom prst="line">
            <a:avLst/>
          </a:prstGeom>
          <a:noFill/>
          <a:ln w="19050">
            <a:solidFill>
              <a:srgbClr val="BBD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45800" y="812800"/>
            <a:ext cx="317500" cy="444500"/>
          </a:xfrm>
          <a:prstGeom prst="line">
            <a:avLst/>
          </a:prstGeom>
          <a:noFill/>
          <a:ln w="19050">
            <a:solidFill>
              <a:srgbClr val="BBD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591800" y="812800"/>
            <a:ext cx="254000" cy="698500"/>
          </a:xfrm>
          <a:prstGeom prst="line">
            <a:avLst/>
          </a:prstGeom>
          <a:noFill/>
          <a:ln w="19050">
            <a:solidFill>
              <a:srgbClr val="BBD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0000" y="889000"/>
            <a:ext cx="101600" cy="10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795000" y="762000"/>
            <a:ext cx="101600" cy="10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112500" y="1206500"/>
            <a:ext cx="101600" cy="101600"/>
          </a:xfrm>
          <a:prstGeom prst="rect">
            <a:avLst/>
          </a:prstGeom>
          <a:solidFill>
            <a:srgbClr val="BBD4E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41000" y="1460500"/>
            <a:ext cx="101600" cy="101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 — Legge 132/2025, D.Lgs 179/2026, AI 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chiede la legge, in sintesi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4350"/>
            <a:ext cx="762000" cy="635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52650"/>
            <a:ext cx="25273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2152650"/>
            <a:ext cx="2527300" cy="3175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23876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Censimento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2717800"/>
            <a:ext cx="21209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Sapere quali strumenti usiamo davvero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500" y="2152650"/>
            <a:ext cx="25273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500" y="2152650"/>
            <a:ext cx="2527300" cy="3175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5700" y="23876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95700" y="2717800"/>
            <a:ext cx="21209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Regole chiare su cosa si può fare e cosa 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152650"/>
            <a:ext cx="25273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152650"/>
            <a:ext cx="2527300" cy="3175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5400" y="23876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5400" y="2717800"/>
            <a:ext cx="21209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interna a cui chiedere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1900" y="2152650"/>
            <a:ext cx="25273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51900" y="2152650"/>
            <a:ext cx="2527300" cy="3175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5100" y="23876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055100" y="2717800"/>
            <a:ext cx="21209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Quella che stiamo facendo ora (art. 42)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11000" y="1905000"/>
            <a:ext cx="64" cy="2857500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66550" y="1860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66550" y="328930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66550" y="47180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regole pratiche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regole per il lavoro di tutti i giorni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4350"/>
            <a:ext cx="762000" cy="635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52650"/>
            <a:ext cx="10566400" cy="6096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330450"/>
            <a:ext cx="76200" cy="254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44600" y="2343150"/>
            <a:ext cx="993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solo gli strumenti autorizzati dall’azienda, con l’account aziendale quando previsto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889250"/>
            <a:ext cx="10566400" cy="6096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3067050"/>
            <a:ext cx="76200" cy="254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44600" y="3079750"/>
            <a:ext cx="993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inserire mai dati riservati di clienti, colleghi o dell’azienda in strumenti non autorizzati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625850"/>
            <a:ext cx="10566400" cy="6096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803650"/>
            <a:ext cx="76200" cy="254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44600" y="3816350"/>
            <a:ext cx="993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 sempre il risultato prima di usarlo: l’IA può sbagliare e tu resti responsabile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4362450"/>
            <a:ext cx="10566400" cy="6096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4540250"/>
            <a:ext cx="76200" cy="2540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44600" y="4552950"/>
            <a:ext cx="993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caso di dubbio, chiedi al referente interno prima di procedere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11000" y="1397000"/>
            <a:ext cx="64" cy="3683000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66550" y="1606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66550" y="31940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66550" y="4781550"/>
            <a:ext cx="88900" cy="88900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e riservatezza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non va mai inserito in uno strumento non autorizzato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11400"/>
            <a:ext cx="762000" cy="635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679700"/>
            <a:ext cx="31750" cy="5842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7750" y="2679700"/>
            <a:ext cx="488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personali di clienti o colleghi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679700"/>
            <a:ext cx="31750" cy="5842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7150" y="2679700"/>
            <a:ext cx="488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sanitari o altre categorie particolari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416300"/>
            <a:ext cx="31750" cy="5842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7750" y="3416300"/>
            <a:ext cx="488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Contratti e informazioni riservate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416300"/>
            <a:ext cx="31750" cy="5842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7150" y="3416300"/>
            <a:ext cx="488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finanziari dell’azienda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42545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Dubbio su un caso specifico? Chiedi prima al referente interno.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V="1">
            <a:off x="10160000" y="889000"/>
            <a:ext cx="317500" cy="381000"/>
          </a:xfrm>
          <a:prstGeom prst="line">
            <a:avLst/>
          </a:prstGeom>
          <a:noFill/>
          <a:ln w="28575">
            <a:solidFill>
              <a:srgbClr val="D435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668000" y="825500"/>
            <a:ext cx="444500" cy="508000"/>
          </a:xfrm>
          <a:prstGeom prst="line">
            <a:avLst/>
          </a:prstGeom>
          <a:noFill/>
          <a:ln w="28575">
            <a:solidFill>
              <a:srgbClr val="D435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1176000" y="1016000"/>
            <a:ext cx="203200" cy="254000"/>
          </a:xfrm>
          <a:prstGeom prst="line">
            <a:avLst/>
          </a:prstGeom>
          <a:noFill/>
          <a:ln w="28575">
            <a:solidFill>
              <a:srgbClr val="D4351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9050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Affidabilità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374900"/>
            <a:ext cx="952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L’intelligenza artificiale può sbagliare, anche con sicurezza apparente.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7719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Può inventare informazioni, citazioni o numeri che sembrano plausibili ma sono falsi. Per questo ogni risultato va controllato da una persona prima di essere usato, soprattutto verso clienti o fornitori.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06000" y="1143000"/>
            <a:ext cx="1473200" cy="64"/>
          </a:xfrm>
          <a:prstGeom prst="line">
            <a:avLst/>
          </a:prstGeom>
          <a:noFill/>
          <a:ln w="19050">
            <a:solidFill>
              <a:srgbClr val="505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1000" y="1054100"/>
            <a:ext cx="177800" cy="177800"/>
          </a:xfrm>
          <a:prstGeom prst="diamond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 sulle persone — art. 41, D.Lgs 179/2026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decisioni sul lavoro non si prendono mai solo con l’IA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11400"/>
            <a:ext cx="762000" cy="63500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679700"/>
            <a:ext cx="8890000" cy="158750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2679700"/>
            <a:ext cx="31750" cy="15875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8550" y="29337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43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Assunzioni, provvedimenti disciplinari e valutazioni delle prestazioni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8550" y="3289300"/>
            <a:ext cx="831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possono mai essere decisi unicamente da un sistema di intelligenza artificiale. Serve sempre una persona che decida davvero. Un licenziamento preso in violazione di questa regola è nullo.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5212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usa l’IA per supportare queste decisioni deve far intervenire una persona prima della decisione finale.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160000" y="1079500"/>
            <a:ext cx="127000" cy="127000"/>
          </a:xfrm>
          <a:prstGeom prst="rect">
            <a:avLst/>
          </a:prstGeom>
          <a:solidFill>
            <a:srgbClr val="B1B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7000" y="1143000"/>
            <a:ext cx="444500" cy="64"/>
          </a:xfrm>
          <a:prstGeom prst="line">
            <a:avLst/>
          </a:prstGeom>
          <a:noFill/>
          <a:ln w="19050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744200" y="1054100"/>
            <a:ext cx="177800" cy="177800"/>
          </a:xfrm>
          <a:prstGeom prst="diamond">
            <a:avLst/>
          </a:prstGeom>
          <a:solidFill>
            <a:srgbClr val="D4351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Pratiche vietate — art. 5, Regolamento (UE) 2024/1689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Cose che la legge vieta sempre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4350"/>
            <a:ext cx="762000" cy="635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52650"/>
            <a:ext cx="31750" cy="5207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7750" y="21526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Manipolare o ingannare le persone con l’IA, a loro danno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774950"/>
            <a:ext cx="31750" cy="5207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7750" y="27749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Classificare o valutare le persone sul loro comportamento sociale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397250"/>
            <a:ext cx="31750" cy="5207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7750" y="33972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Riconoscere le emozioni dei lavoratori sul posto di lavoro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019550"/>
            <a:ext cx="31750" cy="520700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7750" y="40195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la sorveglianza biometrica in tempo reale senza una base legale specifica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10160000" y="889000"/>
            <a:ext cx="317500" cy="381000"/>
          </a:xfrm>
          <a:prstGeom prst="line">
            <a:avLst/>
          </a:prstGeom>
          <a:noFill/>
          <a:ln w="28575">
            <a:solidFill>
              <a:srgbClr val="D435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668000" y="825500"/>
            <a:ext cx="444500" cy="508000"/>
          </a:xfrm>
          <a:prstGeom prst="line">
            <a:avLst/>
          </a:prstGeom>
          <a:noFill/>
          <a:ln w="28575">
            <a:solidFill>
              <a:srgbClr val="D435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1176000" y="1016000"/>
            <a:ext cx="203200" cy="254000"/>
          </a:xfrm>
          <a:prstGeom prst="line">
            <a:avLst/>
          </a:prstGeom>
          <a:noFill/>
          <a:ln w="28575">
            <a:solidFill>
              <a:srgbClr val="D4351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oggi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91440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cose da fare da subito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4350"/>
            <a:ext cx="762000" cy="635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152650"/>
            <a:ext cx="31750" cy="5207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7750" y="21526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solo gli strumenti autorizzati dalla policy aziendale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774950"/>
            <a:ext cx="31750" cy="5207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7750" y="27749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 sempre l’output prima di usarlo o inviarlo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397250"/>
            <a:ext cx="31750" cy="5207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7750" y="33972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condividere mai dati riservati con strumenti non autorizzati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019550"/>
            <a:ext cx="31750" cy="5207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7750" y="4019550"/>
            <a:ext cx="10160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caso di dubbio, parla con il referente interno prima di procedere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611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— Formazione 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33000" y="1047750"/>
            <a:ext cx="1270000" cy="64"/>
          </a:xfrm>
          <a:prstGeom prst="line">
            <a:avLst/>
          </a:prstGeom>
          <a:noFill/>
          <a:ln w="19050">
            <a:solidFill>
              <a:srgbClr val="0070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88550" y="1003300"/>
            <a:ext cx="88900" cy="889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33050" y="1003300"/>
            <a:ext cx="88900" cy="889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77550" y="1003300"/>
            <a:ext cx="88900" cy="88900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22050" y="1003300"/>
            <a:ext cx="88900" cy="88900"/>
          </a:xfrm>
          <a:prstGeom prst="rect">
            <a:avLst/>
          </a:prstGeom>
          <a:solidFill>
            <a:srgbClr val="00703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5875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riferimento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0574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un dubbio sull’uso dell’IA?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882900"/>
            <a:ext cx="6985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800" y="3136900"/>
            <a:ext cx="647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 interno per l’intelligenza artificiale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3403600"/>
            <a:ext cx="647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Rossi, Responsabile amministrazione e 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3797300"/>
            <a:ext cx="647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u="sng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marco.rossi@demo-srl.example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470400"/>
            <a:ext cx="1016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Meglio una domanda in più che un uso scorretto.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60000" y="1079500"/>
            <a:ext cx="101600" cy="101600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10" name="Shape 8"/>
          <p:cNvSpPr/>
          <p:nvPr/>
        </p:nvSpPr>
        <p:spPr>
          <a:xfrm>
            <a:off x="10261600" y="1130300"/>
            <a:ext cx="469900" cy="64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744200" y="1054100"/>
            <a:ext cx="127000" cy="127000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7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762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per l’attenzione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811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68500"/>
            <a:ext cx="825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materiale resta a disposizione: policy aziendale, registro e attestato di partecipazione.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58547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S.r.l. · 10/12/2026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934200" y="58547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[Contatto del formatore]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V="1">
            <a:off x="9956800" y="876300"/>
            <a:ext cx="571500" cy="127000"/>
          </a:xfrm>
          <a:prstGeom prst="line">
            <a:avLst/>
          </a:prstGeom>
          <a:noFill/>
          <a:ln w="19050">
            <a:solidFill>
              <a:srgbClr val="BBD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28300" y="876300"/>
            <a:ext cx="317500" cy="381000"/>
          </a:xfrm>
          <a:prstGeom prst="line">
            <a:avLst/>
          </a:prstGeom>
          <a:noFill/>
          <a:ln w="19050">
            <a:solidFill>
              <a:srgbClr val="BBD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337800" y="876300"/>
            <a:ext cx="190500" cy="571500"/>
          </a:xfrm>
          <a:prstGeom prst="line">
            <a:avLst/>
          </a:prstGeom>
          <a:noFill/>
          <a:ln w="19050">
            <a:solidFill>
              <a:srgbClr val="BBD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06000" y="952500"/>
            <a:ext cx="101600" cy="10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0" y="825500"/>
            <a:ext cx="101600" cy="10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95000" y="1206500"/>
            <a:ext cx="101600" cy="101600"/>
          </a:xfrm>
          <a:prstGeom prst="rect">
            <a:avLst/>
          </a:prstGeom>
          <a:solidFill>
            <a:srgbClr val="BBD4E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87000" y="1397000"/>
            <a:ext cx="101600" cy="101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Demo S.r.l.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Alfabetizzazione IA in azienda — formazione base</dc:title>
  <dc:subject>PptxGenJS Presentation</dc:subject>
  <dc:creator>PptxGenJS</dc:creator>
  <cp:lastModifiedBy>PptxGenJS</cp:lastModifiedBy>
  <cp:revision>1</cp:revision>
  <dcterms:created xsi:type="dcterms:W3CDTF">2026-10-31T08:37:11Z</dcterms:created>
  <dcterms:modified xsi:type="dcterms:W3CDTF">2026-10-31T08:37:11Z</dcterms:modified>
</cp:coreProperties>
</file>