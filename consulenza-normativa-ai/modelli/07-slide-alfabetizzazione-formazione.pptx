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Benvenuti. Obiettivo dell’incontro: capire come usare l’intelligenza artificiale sul lavoro in modo corretto, efficace e conforme alla normativa (AI Act, Legge 132/2025, D.Lgs 179/2026), senza tecnicismi. Durata indicativa: 2 ore. Prima di iniziare, chiedi in sala: chi usa già un assistente IA durante il lavoro, anche solo per scrivere una email? Di solito la maggioranza alza la mano: è il punto da cui partire, non stiamo partendo da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Scaletta indicativa, adattabile alla durata della sessione (tipicamente 2 ore: circa 20 minuti a blocco, lasciando spazio alle domande dopo ogni sezione). Se il tempo è poco, i blocchi 2 e 3 (normativa e regole pratiche) sono quelli da non tagliare: sono l’adempimento richiesto dalla legge.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si passa dal dato normativo a quello organizzativo: l’IA non entra in azienda per decisione della direzione, entra dal basso. Esempio concreto: un collaboratore che usa ChatGPT sul telefono personale per rispondere più in fretta a un cliente, senza che nessuno l’abbia approvato o ne sia a conoscenza. La figura con i punti sparsi rappresenta proprio questo: uso disordinato, non collegato, senza regia.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quattro richieste della normativa italiana (Legge 132/2025 e D.Lgs 179/2026, art. 42) sono anche le quattro cose di cui l’azienda ha bisogno indipendentemente dalla legge, per governare l’uso dell’IA invece di subirlo. Messaggio chiave da ripetere: non sono quattro adempimenti separati, sono un unico percorso. Il censimento che stiamo per fare alimenta la policy, la policy ha bisogno del referente, e tutti e tre hanno bisogno di questa formazione per funzionare davvero.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Queste quattro regole sono il cuore della policy aziendale: vale la pena farle leggere ad alta voce, una alla volta, e per ciascuna chiedere un esempio pratico al gruppo (es. "qualcuno ha già usato ChatGPT con l'account personale per lavoro? Da oggi va fatto con l'account aziendale"). La seconda regola è quella su cui insistere di più: è la causa più comune di incidenti.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Esempio concreto che funziona sempre bene: "immaginate di incollare un contratto riservato in ChatGPT per farvelo riassumere più in fretta, usando il vostro account personale". È esattamente il tipo di gesto piccolo, fatto in buona fede, che questa regola vuole evitare. Chiedere in sala se a qualcuno è già capitato aiuta a far emergere i casi reali da censire.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la pena portare un esempio concreto e neutro, senza nominare prodotti specifici: capita spesso che uno strumento di IA generi un riferimento normativo, una fonte o una citazione che sembra plausibile ma non esiste davvero. Non è un difetto raro, è un comportamento normale di questi strumenti. Per questo "controllare" non è un optional: è l'unico modo per usarli bene. Il rombo sulla linea rappresenta proprio questo controllo di passaggio prima che un output esca verso l'esterno.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Art. 41, D.Lgs 179/2026: le decisioni finali su costituzione, modifica o risoluzione del rapporto di lavoro — inclusi provvedimenti disciplinari e valutazioni delle prestazioni — non possono basarsi unicamente su un trattamento automatizzato. Il lavoratore ha diritto, su richiesta, a una motivazione intelligibile della decisione. Il consenso del lavoratore non è un’eccezione a questa regola. Questa slide riguarda da vicino chi si occupa di persone: se in sala c'è qualcuno delle risorse umane, è il momento di rivolgersi direttamente a lui o lei. L'IA può aiutare a preparare una valutazione, ma chi firma deve averla letta, pensata e decisa.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Elenco semplificato dell’art. 5 del regolamento (UE) 2024/1689 (AI Act). Da rassicurare subito il gruppo: la quasi totalità di quello che fate ogni giorno — scrivere, riassumere, cercare, analizzare dati — non rientra in nessuna di queste categorie. Queste sono le eccezioni gravi, non la normalità. Se però un uso vi sembra anche solo vagamente simile a uno di questi quattro casi, è da segnalare subito al referente, prima di procedere.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slide di sintesi: conviene lasciarla proiettata qualche secondo in più e chiedere al gruppo di riformularla con parole proprie, una regola a testa. Le quattro cose da fare corrispondono punto per punto alla policy aziendale che verrà consegnata: non è altro che la stessa policy, detta in modo semplice.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diamo le coordinate pratiche: nome, ruolo e come contattare il referente (email, chat interna, o semplicemente passare in ufficio). Vale la pena anche dire quando è ragionevole aspettarsi una risposta, per non creare l'impressione di un canale che poi nessuno controlla. Se l'azienda non ha ancora nominato nessuno, qui è il momento di annunciarlo.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Chiudere ricordando dove trovare le cose: la policy aziendale (dove sono elencati gli strumenti autorizzati), il nome del referente interno e l'attestato di partecipazione che verrà consegnato a ciascuno. Lasciare qualche minuto per domande libere, anche informali: spesso emergono i casi d'uso più interessanti proprio a fine sessione. La figura in alto a destra è la stessa della copertina: da uso disordinato (prima slide) a rete collegata e governata (qui).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780" y="812780"/>
            <a:ext cx="6349841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Formazione base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2780" y="1193770"/>
            <a:ext cx="10159746" cy="1650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Alfabetizzazione e uso responsabile dell’intelligenza artificiale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2780" y="2984425"/>
            <a:ext cx="1015975" cy="9144"/>
          </a:xfrm>
          <a:prstGeom prst="line">
            <a:avLst/>
          </a:prstGeom>
          <a:noFill/>
          <a:ln w="88900">
            <a:solidFill>
              <a:srgbClr val="1D70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2780" y="3238419"/>
            <a:ext cx="7619810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dice la legge, cosa possiamo fare e cosa no, a chi rivolgersi in caso di dubbio.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2780" y="6032349"/>
            <a:ext cx="3809905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azienda] · [Data]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9810" y="6032349"/>
            <a:ext cx="375910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cura di [Nome formatore]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10705" y="1396965"/>
            <a:ext cx="9144" cy="3682908"/>
          </a:xfrm>
          <a:prstGeom prst="line">
            <a:avLst/>
          </a:prstGeom>
          <a:noFill/>
          <a:ln w="19050">
            <a:solidFill>
              <a:srgbClr val="1D7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66256" y="1606510"/>
            <a:ext cx="88898" cy="88898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0" name="Shape 8"/>
          <p:cNvSpPr/>
          <p:nvPr/>
        </p:nvSpPr>
        <p:spPr>
          <a:xfrm>
            <a:off x="11766256" y="3447964"/>
            <a:ext cx="88898" cy="88898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1" name="Shape 9"/>
          <p:cNvSpPr/>
          <p:nvPr/>
        </p:nvSpPr>
        <p:spPr>
          <a:xfrm>
            <a:off x="11766256" y="5289418"/>
            <a:ext cx="88898" cy="88898"/>
          </a:xfrm>
          <a:prstGeom prst="rect">
            <a:avLst/>
          </a:prstGeom>
          <a:solidFill>
            <a:srgbClr val="1D70B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780" y="812780"/>
            <a:ext cx="10159746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2780" y="1066773"/>
            <a:ext cx="10566136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cosa parliamo oggi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780" y="1701757"/>
            <a:ext cx="761981" cy="9144"/>
          </a:xfrm>
          <a:prstGeom prst="line">
            <a:avLst/>
          </a:prstGeom>
          <a:noFill/>
          <a:ln w="76200">
            <a:solidFill>
              <a:srgbClr val="1D70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780" y="2095448"/>
            <a:ext cx="5187820" cy="1460463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6773" y="2285943"/>
            <a:ext cx="4679833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L’IA è già qui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66773" y="2666933"/>
            <a:ext cx="4679833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la usiamo oggi, spesso senza accorgercene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1095" y="2095448"/>
            <a:ext cx="5187820" cy="1460463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5089" y="2285943"/>
            <a:ext cx="4679833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Cosa chiede la legge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5089" y="2666933"/>
            <a:ext cx="4679833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breve, senza tecnicismi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780" y="3746406"/>
            <a:ext cx="5187820" cy="1460463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66773" y="3936902"/>
            <a:ext cx="4679833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 regole pratiche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66773" y="4317892"/>
            <a:ext cx="4679833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fare e cosa evitare nel lavoro quotidiano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1095" y="3746406"/>
            <a:ext cx="5187820" cy="1460463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5089" y="3936902"/>
            <a:ext cx="4679833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 chi rivolgersi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5089" y="4317892"/>
            <a:ext cx="4679833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referente interno e i prossimi passi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2780" y="6451439"/>
            <a:ext cx="5714857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azienda] — Formazione 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810705" y="1396965"/>
            <a:ext cx="9144" cy="3682908"/>
          </a:xfrm>
          <a:prstGeom prst="line">
            <a:avLst/>
          </a:prstGeom>
          <a:noFill/>
          <a:ln w="19050">
            <a:solidFill>
              <a:srgbClr val="1D70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66256" y="1606510"/>
            <a:ext cx="88898" cy="88898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766256" y="3447964"/>
            <a:ext cx="88898" cy="88898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766256" y="5289418"/>
            <a:ext cx="88898" cy="88898"/>
          </a:xfrm>
          <a:prstGeom prst="rect">
            <a:avLst/>
          </a:prstGeom>
          <a:solidFill>
            <a:srgbClr val="1D70B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70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780" y="812780"/>
            <a:ext cx="6349841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punto di partenza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2780" y="1904952"/>
            <a:ext cx="9524762" cy="1396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Nella maggior parte delle aziende l’intelligenza artificiale è già in uso.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2780" y="3555911"/>
            <a:ext cx="8889778" cy="888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dal basso, una persona alla volta, spesso senza una scelta consapevole. Il problema non è vietarla: è portarla alla luce e darle una direzione.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 flipV="1">
            <a:off x="10159746" y="761981"/>
            <a:ext cx="634984" cy="126997"/>
          </a:xfrm>
          <a:prstGeom prst="line">
            <a:avLst/>
          </a:prstGeom>
          <a:noFill/>
          <a:ln w="15240">
            <a:solidFill>
              <a:srgbClr val="BBD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94730" y="761981"/>
            <a:ext cx="317492" cy="444489"/>
          </a:xfrm>
          <a:prstGeom prst="line">
            <a:avLst/>
          </a:prstGeom>
          <a:noFill/>
          <a:ln w="15240">
            <a:solidFill>
              <a:srgbClr val="BBD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40736" y="761981"/>
            <a:ext cx="253994" cy="698483"/>
          </a:xfrm>
          <a:prstGeom prst="line">
            <a:avLst/>
          </a:prstGeom>
          <a:noFill/>
          <a:ln w="15240">
            <a:solidFill>
              <a:srgbClr val="BBD4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59746" y="888978"/>
            <a:ext cx="101597" cy="1015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794730" y="761981"/>
            <a:ext cx="101597" cy="1015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112222" y="1206470"/>
            <a:ext cx="101597" cy="101597"/>
          </a:xfrm>
          <a:prstGeom prst="rect">
            <a:avLst/>
          </a:prstGeom>
          <a:solidFill>
            <a:srgbClr val="BBD4EA"/>
          </a:solidFill>
          <a:ln/>
        </p:spPr>
      </p:sp>
      <p:sp>
        <p:nvSpPr>
          <p:cNvPr id="11" name="Shape 9"/>
          <p:cNvSpPr/>
          <p:nvPr/>
        </p:nvSpPr>
        <p:spPr>
          <a:xfrm>
            <a:off x="10540736" y="1460463"/>
            <a:ext cx="101597" cy="101597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780" y="812780"/>
            <a:ext cx="10159746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Normativa — Legge 132/2025, D.Lgs 179/2026, AI 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2780" y="1066773"/>
            <a:ext cx="10566136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chiede la legge, in sintesi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780" y="1701757"/>
            <a:ext cx="761981" cy="9144"/>
          </a:xfrm>
          <a:prstGeom prst="line">
            <a:avLst/>
          </a:prstGeom>
          <a:noFill/>
          <a:ln w="76200">
            <a:solidFill>
              <a:srgbClr val="1D70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780" y="2095448"/>
            <a:ext cx="2527237" cy="31749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6" name="Shape 4"/>
          <p:cNvSpPr/>
          <p:nvPr/>
        </p:nvSpPr>
        <p:spPr>
          <a:xfrm>
            <a:off x="812780" y="2127197"/>
            <a:ext cx="2527237" cy="1619210"/>
          </a:xfrm>
          <a:prstGeom prst="rect">
            <a:avLst/>
          </a:prstGeom>
          <a:solidFill>
            <a:srgbClr val="FFFFFF"/>
          </a:solidFill>
          <a:ln w="9525">
            <a:solidFill>
              <a:srgbClr val="B1B4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5975" y="2349441"/>
            <a:ext cx="2120847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Censimento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15975" y="2730432"/>
            <a:ext cx="2120847" cy="888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Sapere quali strumenti usiamo davvero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2413" y="2095448"/>
            <a:ext cx="2527237" cy="31749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0" name="Shape 8"/>
          <p:cNvSpPr/>
          <p:nvPr/>
        </p:nvSpPr>
        <p:spPr>
          <a:xfrm>
            <a:off x="3492413" y="2127197"/>
            <a:ext cx="2527237" cy="1619210"/>
          </a:xfrm>
          <a:prstGeom prst="rect">
            <a:avLst/>
          </a:prstGeom>
          <a:solidFill>
            <a:srgbClr val="FFFFFF"/>
          </a:solidFill>
          <a:ln w="9525">
            <a:solidFill>
              <a:srgbClr val="B1B4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95608" y="2349441"/>
            <a:ext cx="2120847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95608" y="2730432"/>
            <a:ext cx="2120847" cy="888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Regole chiare su cosa si può fare e cosa no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046" y="2095448"/>
            <a:ext cx="2527237" cy="31749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4" name="Shape 12"/>
          <p:cNvSpPr/>
          <p:nvPr/>
        </p:nvSpPr>
        <p:spPr>
          <a:xfrm>
            <a:off x="6172046" y="2127197"/>
            <a:ext cx="2527237" cy="1619210"/>
          </a:xfrm>
          <a:prstGeom prst="rect">
            <a:avLst/>
          </a:prstGeom>
          <a:solidFill>
            <a:srgbClr val="FFFFFF"/>
          </a:solidFill>
          <a:ln w="9525">
            <a:solidFill>
              <a:srgbClr val="B1B4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5241" y="2349441"/>
            <a:ext cx="2120847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75241" y="2730432"/>
            <a:ext cx="2120847" cy="888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persona interna a cui chiedere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51679" y="2095448"/>
            <a:ext cx="2527237" cy="31749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8" name="Shape 16"/>
          <p:cNvSpPr/>
          <p:nvPr/>
        </p:nvSpPr>
        <p:spPr>
          <a:xfrm>
            <a:off x="8851679" y="2127197"/>
            <a:ext cx="2527237" cy="1619210"/>
          </a:xfrm>
          <a:prstGeom prst="rect">
            <a:avLst/>
          </a:prstGeom>
          <a:solidFill>
            <a:srgbClr val="FFFFFF"/>
          </a:solidFill>
          <a:ln w="9525">
            <a:solidFill>
              <a:srgbClr val="B1B4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54874" y="2349441"/>
            <a:ext cx="2120847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Formazione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054874" y="2730432"/>
            <a:ext cx="2120847" cy="888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Quella che stiamo facendo ora (art. 42)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2780" y="6451439"/>
            <a:ext cx="5714857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azienda] — Formazione IA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810705" y="1904952"/>
            <a:ext cx="9144" cy="2857429"/>
          </a:xfrm>
          <a:prstGeom prst="line">
            <a:avLst/>
          </a:prstGeom>
          <a:noFill/>
          <a:ln w="19050">
            <a:solidFill>
              <a:srgbClr val="1D70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66256" y="2114497"/>
            <a:ext cx="88898" cy="88898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24" name="Shape 22"/>
          <p:cNvSpPr/>
          <p:nvPr/>
        </p:nvSpPr>
        <p:spPr>
          <a:xfrm>
            <a:off x="11766256" y="3543211"/>
            <a:ext cx="88898" cy="88898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66256" y="4971926"/>
            <a:ext cx="88898" cy="88898"/>
          </a:xfrm>
          <a:prstGeom prst="rect">
            <a:avLst/>
          </a:prstGeom>
          <a:solidFill>
            <a:srgbClr val="1D70B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780" y="812780"/>
            <a:ext cx="10159746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regole pratiche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2780" y="1066773"/>
            <a:ext cx="10566136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 regole per il lavoro di tutti i giorni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780" y="1701757"/>
            <a:ext cx="761981" cy="9144"/>
          </a:xfrm>
          <a:prstGeom prst="line">
            <a:avLst/>
          </a:prstGeom>
          <a:noFill/>
          <a:ln w="76200">
            <a:solidFill>
              <a:srgbClr val="1D70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780" y="2095448"/>
            <a:ext cx="10566136" cy="634984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6" name="Shape 4"/>
          <p:cNvSpPr/>
          <p:nvPr/>
        </p:nvSpPr>
        <p:spPr>
          <a:xfrm>
            <a:off x="812780" y="2285943"/>
            <a:ext cx="76198" cy="253994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93770" y="2095448"/>
            <a:ext cx="9994650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solo gli strumenti autorizzati dall’azienda, con l’account aziendale quando previsto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2780" y="2857429"/>
            <a:ext cx="10566136" cy="634984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9" name="Shape 7"/>
          <p:cNvSpPr/>
          <p:nvPr/>
        </p:nvSpPr>
        <p:spPr>
          <a:xfrm>
            <a:off x="812780" y="3047924"/>
            <a:ext cx="76198" cy="253994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93770" y="2857429"/>
            <a:ext cx="9994650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inserire mai dati riservati di clienti, colleghi o dell’azienda in strumenti non autorizzati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780" y="3619410"/>
            <a:ext cx="10566136" cy="634984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2" name="Shape 10"/>
          <p:cNvSpPr/>
          <p:nvPr/>
        </p:nvSpPr>
        <p:spPr>
          <a:xfrm>
            <a:off x="812780" y="3809905"/>
            <a:ext cx="76198" cy="253994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93770" y="3619410"/>
            <a:ext cx="9994650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Controlla sempre il risultato prima di usarlo: l’IA può sbagliare e tu resti responsabile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2780" y="4381390"/>
            <a:ext cx="10566136" cy="634984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5" name="Shape 13"/>
          <p:cNvSpPr/>
          <p:nvPr/>
        </p:nvSpPr>
        <p:spPr>
          <a:xfrm>
            <a:off x="812780" y="4571886"/>
            <a:ext cx="76198" cy="253994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93770" y="4381390"/>
            <a:ext cx="9994650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caso di dubbio, chiedi al referente interno prima di procedere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12780" y="6451439"/>
            <a:ext cx="5714857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azienda] — Formazione 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810705" y="1396965"/>
            <a:ext cx="9144" cy="3682908"/>
          </a:xfrm>
          <a:prstGeom prst="line">
            <a:avLst/>
          </a:prstGeom>
          <a:noFill/>
          <a:ln w="19050">
            <a:solidFill>
              <a:srgbClr val="1D70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66256" y="1606510"/>
            <a:ext cx="88898" cy="88898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766256" y="3447964"/>
            <a:ext cx="88898" cy="88898"/>
          </a:xfrm>
          <a:prstGeom prst="rect">
            <a:avLst/>
          </a:prstGeom>
          <a:solidFill>
            <a:srgbClr val="1D70B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766256" y="5289418"/>
            <a:ext cx="88898" cy="88898"/>
          </a:xfrm>
          <a:prstGeom prst="rect">
            <a:avLst/>
          </a:prstGeom>
          <a:solidFill>
            <a:srgbClr val="1D70B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780" y="812780"/>
            <a:ext cx="10159746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e riservatezza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2780" y="1066773"/>
            <a:ext cx="10566136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non va mai inserito in uno strumento non autorizzato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780" y="1701757"/>
            <a:ext cx="761981" cy="9144"/>
          </a:xfrm>
          <a:prstGeom prst="line">
            <a:avLst/>
          </a:prstGeom>
          <a:noFill/>
          <a:ln w="76200">
            <a:solidFill>
              <a:srgbClr val="D435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780" y="2095448"/>
            <a:ext cx="31749" cy="698483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5975" y="2095448"/>
            <a:ext cx="4825879" cy="69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personali di clienti o colleghi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046" y="2095448"/>
            <a:ext cx="31749" cy="698483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75241" y="2095448"/>
            <a:ext cx="4825879" cy="69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sanitari o altre categorie particolari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780" y="2946326"/>
            <a:ext cx="31749" cy="698483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5975" y="2946326"/>
            <a:ext cx="4825879" cy="69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Contratti e informazioni riservate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046" y="2946326"/>
            <a:ext cx="31749" cy="698483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75241" y="2946326"/>
            <a:ext cx="4825879" cy="69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finanziari dell’azienda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2780" y="3936902"/>
            <a:ext cx="8254794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Dubbio su un caso specifico? Chiedi prima al referente interno.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12780" y="6451439"/>
            <a:ext cx="5714857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azienda] — Formazione IA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780" y="812780"/>
            <a:ext cx="6349841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Affidabilità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2780" y="1904952"/>
            <a:ext cx="9524762" cy="1396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L’intelligenza artificiale può sbagliare, anche con sicurezza apparente.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2780" y="3555911"/>
            <a:ext cx="8889778" cy="888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Può inventare informazioni, citazioni o numeri che sembrano plausibili ma sono falsi. Per questo ogni risultato va controllato da una persona prima di essere usato, soprattutto verso clienti o fornitori.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905752" y="1142971"/>
            <a:ext cx="1473163" cy="9144"/>
          </a:xfrm>
          <a:prstGeom prst="line">
            <a:avLst/>
          </a:prstGeom>
          <a:noFill/>
          <a:ln w="15240">
            <a:solidFill>
              <a:srgbClr val="505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40736" y="1054074"/>
            <a:ext cx="177796" cy="177796"/>
          </a:xfrm>
          <a:prstGeom prst="diamond">
            <a:avLst/>
          </a:prstGeom>
          <a:solidFill>
            <a:srgbClr val="1D70B8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780" y="812780"/>
            <a:ext cx="10159746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Decisioni sulle persone — art. 41, D.Lgs 179/2026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2780" y="1066773"/>
            <a:ext cx="10566136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decisioni sul lavoro non si prendono mai solo con l’IA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780" y="1701757"/>
            <a:ext cx="761981" cy="9144"/>
          </a:xfrm>
          <a:prstGeom prst="line">
            <a:avLst/>
          </a:prstGeom>
          <a:noFill/>
          <a:ln w="76200">
            <a:solidFill>
              <a:srgbClr val="1D70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780" y="2095448"/>
            <a:ext cx="31749" cy="1650959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6" name="Shape 4"/>
          <p:cNvSpPr/>
          <p:nvPr/>
        </p:nvSpPr>
        <p:spPr>
          <a:xfrm>
            <a:off x="844529" y="2095448"/>
            <a:ext cx="8858029" cy="1650959"/>
          </a:xfrm>
          <a:prstGeom prst="rect">
            <a:avLst/>
          </a:prstGeom>
          <a:solidFill>
            <a:srgbClr val="FFFFFF"/>
          </a:solidFill>
          <a:ln w="9525">
            <a:solidFill>
              <a:srgbClr val="B1B4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6773" y="2349441"/>
            <a:ext cx="8381790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3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Assunzioni, provvedimenti disciplinari e valutazioni delle prestazioni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66773" y="2920927"/>
            <a:ext cx="8381790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possono mai essere decisi unicamente da un sistema di intelligenza artificiale. Serve sempre una persona che decida davvero. Un licenziamento preso in violazione di questa regola è nullo.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2780" y="4000400"/>
            <a:ext cx="8254794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usa l’IA per supportare queste decisioni deve far intervenire una persona prima della decisione finale.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2780" y="6451439"/>
            <a:ext cx="5714857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azienda] — Formazione IA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159746" y="1079473"/>
            <a:ext cx="126997" cy="126997"/>
          </a:xfrm>
          <a:prstGeom prst="rect">
            <a:avLst/>
          </a:prstGeom>
          <a:solidFill>
            <a:srgbClr val="B1B4B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86743" y="1142971"/>
            <a:ext cx="444489" cy="9144"/>
          </a:xfrm>
          <a:prstGeom prst="line">
            <a:avLst/>
          </a:prstGeom>
          <a:noFill/>
          <a:ln w="15240">
            <a:solidFill>
              <a:srgbClr val="505A5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743931" y="1054074"/>
            <a:ext cx="177796" cy="177796"/>
          </a:xfrm>
          <a:prstGeom prst="diamond">
            <a:avLst/>
          </a:prstGeom>
          <a:solidFill>
            <a:srgbClr val="D4351C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780" y="812780"/>
            <a:ext cx="10159746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Pratiche vietate — art. 5, Regolamento (UE) 2024/1689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2780" y="1066773"/>
            <a:ext cx="10566136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Cose che la legge vieta sempre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780" y="1701757"/>
            <a:ext cx="761981" cy="9144"/>
          </a:xfrm>
          <a:prstGeom prst="line">
            <a:avLst/>
          </a:prstGeom>
          <a:noFill/>
          <a:ln w="76200">
            <a:solidFill>
              <a:srgbClr val="D435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780" y="2095448"/>
            <a:ext cx="31749" cy="634984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5975" y="2095448"/>
            <a:ext cx="10185145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Manipolare o ingannare le persone con l’IA, a loro danno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780" y="2857429"/>
            <a:ext cx="31749" cy="634984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15975" y="2857429"/>
            <a:ext cx="10185145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Classificare o valutare le persone sul loro comportamento sociale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780" y="3619410"/>
            <a:ext cx="31749" cy="634984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5975" y="3619410"/>
            <a:ext cx="10185145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Riconoscere le emozioni dei lavoratori sul posto di lavoro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780" y="4381390"/>
            <a:ext cx="31749" cy="634984"/>
          </a:xfrm>
          <a:prstGeom prst="rect">
            <a:avLst/>
          </a:prstGeom>
          <a:solidFill>
            <a:srgbClr val="D435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15975" y="4381390"/>
            <a:ext cx="10185145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Usare la sorveglianza biometrica in tempo reale senza una base legale specifica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2780" y="6451439"/>
            <a:ext cx="5714857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azienda] — Formazione IA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780" y="812780"/>
            <a:ext cx="10159746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oggi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2780" y="1066773"/>
            <a:ext cx="10566136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 cose da fare da subito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780" y="1701757"/>
            <a:ext cx="761981" cy="9144"/>
          </a:xfrm>
          <a:prstGeom prst="line">
            <a:avLst/>
          </a:prstGeom>
          <a:noFill/>
          <a:ln w="76200">
            <a:solidFill>
              <a:srgbClr val="007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780" y="2095448"/>
            <a:ext cx="31749" cy="634984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5975" y="2095448"/>
            <a:ext cx="10185145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solo gli strumenti autorizzati dalla policy aziendale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780" y="2857429"/>
            <a:ext cx="31749" cy="634984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15975" y="2857429"/>
            <a:ext cx="10185145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Controlla sempre l’output prima di usarlo o inviarlo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780" y="3619410"/>
            <a:ext cx="31749" cy="634984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5975" y="3619410"/>
            <a:ext cx="10185145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condividere mai dati riservati con strumenti non autorizzati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780" y="4381390"/>
            <a:ext cx="31749" cy="634984"/>
          </a:xfrm>
          <a:prstGeom prst="rect">
            <a:avLst/>
          </a:prstGeom>
          <a:solidFill>
            <a:srgbClr val="0070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15975" y="4381390"/>
            <a:ext cx="10185145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caso di dubbio, parla con il referente interno prima di procedere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2780" y="6451439"/>
            <a:ext cx="5714857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azienda] — Formazione IA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780" y="812780"/>
            <a:ext cx="6349841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punto di riferimento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2780" y="1396965"/>
            <a:ext cx="9524762" cy="69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un dubbio sull’uso dell’IA?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780" y="2666933"/>
            <a:ext cx="5714857" cy="1460463"/>
          </a:xfrm>
          <a:prstGeom prst="rect">
            <a:avLst/>
          </a:prstGeom>
          <a:solidFill>
            <a:srgbClr val="FFFFFF"/>
          </a:solidFill>
          <a:ln w="9525">
            <a:solidFill>
              <a:srgbClr val="B1B4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6773" y="2920927"/>
            <a:ext cx="5206870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Referente interno per l’intelligenza artificiale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66773" y="3206670"/>
            <a:ext cx="5206870" cy="292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[Nome, ruolo]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66773" y="3555911"/>
            <a:ext cx="5206870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1D7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[email o altro contatto]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2780" y="4444889"/>
            <a:ext cx="7619810" cy="292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Meglio una domanda in più che un uso scorretto.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159746" y="1079473"/>
            <a:ext cx="101597" cy="101597"/>
          </a:xfrm>
          <a:prstGeom prst="rect">
            <a:avLst/>
          </a:prstGeom>
          <a:solidFill>
            <a:srgbClr val="0B0C0C"/>
          </a:solidFill>
          <a:ln/>
        </p:spPr>
      </p:sp>
      <p:sp>
        <p:nvSpPr>
          <p:cNvPr id="10" name="Shape 8"/>
          <p:cNvSpPr/>
          <p:nvPr/>
        </p:nvSpPr>
        <p:spPr>
          <a:xfrm>
            <a:off x="10261343" y="1130272"/>
            <a:ext cx="469888" cy="9144"/>
          </a:xfrm>
          <a:prstGeom prst="line">
            <a:avLst/>
          </a:prstGeom>
          <a:noFill/>
          <a:ln w="15240">
            <a:solidFill>
              <a:srgbClr val="1D70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743931" y="1054074"/>
            <a:ext cx="126997" cy="126997"/>
          </a:xfrm>
          <a:prstGeom prst="rect">
            <a:avLst/>
          </a:prstGeom>
          <a:solidFill>
            <a:srgbClr val="1D70B8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70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780" y="812780"/>
            <a:ext cx="6349841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Grazie per l’attenzione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2780" y="1396965"/>
            <a:ext cx="8254794" cy="888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Domande?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12780" y="2539937"/>
            <a:ext cx="8254794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materiale resta a disposizione: policy aziendale, registro e attestato di partecipazione.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2780" y="6032349"/>
            <a:ext cx="3809905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azienda] · [Data]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619810" y="6032349"/>
            <a:ext cx="375910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[Contatto del formatore]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flipV="1">
            <a:off x="9905752" y="825479"/>
            <a:ext cx="634984" cy="126997"/>
          </a:xfrm>
          <a:prstGeom prst="line">
            <a:avLst/>
          </a:prstGeom>
          <a:noFill/>
          <a:ln w="15240">
            <a:solidFill>
              <a:srgbClr val="BBD4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40736" y="825479"/>
            <a:ext cx="317492" cy="444489"/>
          </a:xfrm>
          <a:prstGeom prst="line">
            <a:avLst/>
          </a:prstGeom>
          <a:noFill/>
          <a:ln w="15240">
            <a:solidFill>
              <a:srgbClr val="BBD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86743" y="825479"/>
            <a:ext cx="253994" cy="698483"/>
          </a:xfrm>
          <a:prstGeom prst="line">
            <a:avLst/>
          </a:prstGeom>
          <a:noFill/>
          <a:ln w="15240">
            <a:solidFill>
              <a:srgbClr val="BBD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05752" y="952476"/>
            <a:ext cx="101597" cy="1015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0540736" y="825479"/>
            <a:ext cx="101597" cy="1015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58229" y="1269968"/>
            <a:ext cx="101597" cy="101597"/>
          </a:xfrm>
          <a:prstGeom prst="rect">
            <a:avLst/>
          </a:prstGeom>
          <a:solidFill>
            <a:srgbClr val="BBD4E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86743" y="1523962"/>
            <a:ext cx="101597" cy="101597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Essenziale">
  <a:themeElements>
    <a:clrScheme name="Essenziale">
      <a:dk1>
        <a:srgbClr val="0B0C0C"/>
      </a:dk1>
      <a:lt1>
        <a:srgbClr val="FFFFFF"/>
      </a:lt1>
      <a:dk2>
        <a:srgbClr val="1D70B8"/>
      </a:dk2>
      <a:lt2>
        <a:srgbClr val="F3F2F1"/>
      </a:lt2>
      <a:accent1>
        <a:srgbClr val="1D70B8"/>
      </a:accent1>
      <a:accent2>
        <a:srgbClr val="00703C"/>
      </a:accent2>
      <a:accent3>
        <a:srgbClr val="D4351C"/>
      </a:accent3>
      <a:accent4>
        <a:srgbClr val="505A5F"/>
      </a:accent4>
      <a:accent5>
        <a:srgbClr val="B1B4B6"/>
      </a:accent5>
      <a:accent6>
        <a:srgbClr val="BBD4EA"/>
      </a:accent6>
      <a:hlink>
        <a:srgbClr val="1D70B8"/>
      </a:hlink>
      <a:folHlink>
        <a:srgbClr val="1D70B8"/>
      </a:folHlink>
    </a:clrScheme>
    <a:fontScheme name="Essenzial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2026-10-31T08:10:46Z</dcterms:created>
  <dcterms:modified xsi:type="dcterms:W3CDTF">2026-10-31T08:10:46Z</dcterms:modified>
</cp:coreProperties>
</file>